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综合得分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5A5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刘伟（高级后端工程师）</c:v>
                  </c:pt>
                  <c:pt idx="1">
                    <c:v>陈强（技术负责人）</c:v>
                  </c:pt>
                  <c:pt idx="2">
                    <c:v>赵丽（高级前端工程师）</c:v>
                  </c:pt>
                  <c:pt idx="3">
                    <c:v>杨飞（QA 负责人）</c:v>
                  </c:pt>
                  <c:pt idx="4">
                    <c:v>王超（后端工程师）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397</c:v>
                </c:pt>
                <c:pt idx="1">
                  <c:v>377</c:v>
                </c:pt>
                <c:pt idx="2">
                  <c:v>355</c:v>
                </c:pt>
                <c:pt idx="3">
                  <c:v>325</c:v>
                </c:pt>
                <c:pt idx="4">
                  <c:v>323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协作次数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陈强-苏楠</c:v>
                  </c:pt>
                  <c:pt idx="1">
                    <c:v>陈强-刘伟</c:v>
                  </c:pt>
                  <c:pt idx="2">
                    <c:v>陈强-赵丽</c:v>
                  </c:pt>
                  <c:pt idx="3">
                    <c:v>刘伟-赵丽</c:v>
                  </c:pt>
                  <c:pt idx="4">
                    <c:v>苏楠-黄薇</c:v>
                  </c:pt>
                  <c:pt idx="5">
                    <c:v>刘伟-王超</c:v>
                  </c:pt>
                  <c:pt idx="6">
                    <c:v>赵丽-罗茜</c:v>
                  </c:pt>
                  <c:pt idx="7">
                    <c:v>罗茜-何成</c:v>
                  </c:pt>
                  <c:pt idx="8">
                    <c:v>赵丽-周敏</c:v>
                  </c:pt>
                  <c:pt idx="9">
                    <c:v>周敏-何成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</c:v>
                </c:pt>
                <c:pt idx="1">
                  <c:v>45</c:v>
                </c:pt>
                <c:pt idx="2">
                  <c:v>38</c:v>
                </c:pt>
                <c:pt idx="3">
                  <c:v>52</c:v>
                </c:pt>
                <c:pt idx="4">
                  <c:v>55</c:v>
                </c:pt>
                <c:pt idx="5">
                  <c:v>48</c:v>
                </c:pt>
                <c:pt idx="6">
                  <c:v>45</c:v>
                </c:pt>
                <c:pt idx="7">
                  <c:v>48</c:v>
                </c:pt>
                <c:pt idx="8">
                  <c:v>42</c:v>
                </c:pt>
                <c:pt idx="9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首次响应时间(h)</c:v>
                </c:pt>
              </c:strCache>
            </c:strRef>
          </c:tx>
          <c:spPr>
            <a:solidFill>
              <a:srgbClr val="ED7D31"/>
            </a:solidFill>
            <a:ln w="3810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Sprint 25</c:v>
                  </c:pt>
                  <c:pt idx="1">
                    <c:v>Sprint 26</c:v>
                  </c:pt>
                  <c:pt idx="2">
                    <c:v>Sprint 27</c:v>
                  </c:pt>
                  <c:pt idx="3">
                    <c:v>Sprint 28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3.1</c:v>
                </c:pt>
                <c:pt idx="2">
                  <c:v>2.6</c:v>
                </c:pt>
                <c:pt idx="3">
                  <c:v>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工单处理时长(h)</c:v>
                </c:pt>
              </c:strCache>
            </c:strRef>
          </c:tx>
          <c:spPr>
            <a:solidFill>
              <a:srgbClr val="4472C4"/>
            </a:solidFill>
            <a:ln w="3810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Sprint 25</c:v>
                  </c:pt>
                  <c:pt idx="1">
                    <c:v>Sprint 26</c:v>
                  </c:pt>
                  <c:pt idx="2">
                    <c:v>Sprint 27</c:v>
                  </c:pt>
                  <c:pt idx="3">
                    <c:v>Sprint 28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7.4</c:v>
                </c:pt>
                <c:pt idx="2">
                  <c:v>6.1</c:v>
                </c:pt>
                <c:pt idx="3">
                  <c:v>5.8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达成率(%)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Sprint 25</c:v>
                  </c:pt>
                  <c:pt idx="1">
                    <c:v>Sprint 26</c:v>
                  </c:pt>
                  <c:pt idx="2">
                    <c:v>Sprint 27</c:v>
                  </c:pt>
                  <c:pt idx="3">
                    <c:v>Sprint 28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92.1</c:v>
                </c:pt>
                <c:pt idx="1">
                  <c:v>93.8</c:v>
                </c:pt>
                <c:pt idx="2">
                  <c:v>96.5</c:v>
                </c:pt>
                <c:pt idx="3">
                  <c:v>97.2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496"/>
                </a:solidFill>
              </a:rPr>
              <a:t>Q3 团队效能月报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2026 年 9 月  |  Nexora Tech 产品团队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496"/>
                </a:solidFill>
              </a:rPr>
              <a:t>一、个人贡献 TOP5 排名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920240"/>
          <a:ext cx="3931920" cy="2743200"/>
        </p:xfrm>
        <a:graphic>
          <a:graphicData uri="http://schemas.openxmlformats.org/drawingml/2006/table">
            <a:tbl>
              <a:tblPr/>
              <a:tblGrid>
                <a:gridCol w="561703"/>
                <a:gridCol w="561703"/>
                <a:gridCol w="561703"/>
                <a:gridCol w="561703"/>
                <a:gridCol w="561703"/>
                <a:gridCol w="561703"/>
                <a:gridCol w="561703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排名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姓名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Commit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审查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Bug修复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得分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刘伟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397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陈强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赵丽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杨飞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王超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</a:rPr>
              <a:t>综合得分 = Commit×0.3 + PR×1.5 + 审查×0.8 + Bug修复×2.0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496"/>
                </a:solidFill>
              </a:rPr>
              <a:t>二、跨团队协作热力图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0584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005840"/>
          <a:ext cx="4206240" cy="365760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协作对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次数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响应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产品↔技术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2.8h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后端↔前端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1.9h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技术↔设计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3.5h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技术↔QA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2.1h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后端↔DevOps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1.5h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产品↔设计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3.2h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产品↔客户成功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4.8h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QA↔客户成功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2.6h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设计↔市场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6.2h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</a:rPr>
              <a:t>Q3 跨部门协作共 854 次，环比 +18.1%。绿色=高频协作(≥40)，后端↔前端响应最快(1.9h)。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496"/>
                </a:solidFill>
              </a:rPr>
              <a:t>三、响应效率趋势（按 Sprint）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0584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7223760" y="1005840"/>
          <a:ext cx="4389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7223760" y="44805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首次响应时间下降 </a:t>
            </a:r>
            <a:pPr algn="l"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31.4%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（3.5h→2.4h）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SLA 达成率提升 </a:t>
            </a:r>
            <a:pPr algn="l"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+5.1pp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（92.1%→97.2%）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</a:rPr>
              <a:t>Q3 平均首次响应 2.7h（Q2 为 3.6h，-25%），高优工单响应 18min（Q2 为 32min，-44%）。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496"/>
                </a:solidFill>
              </a:rPr>
              <a:t>四、协作改进建议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6FC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</a:rPr>
              <a:t>1. API 契约先行 全面推广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将后端↔前端契约模板推广到全部跨模块场景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负责人：陈强  |  目标：联调阻塞下降 40%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0972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6FC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7D31"/>
                </a:solidFill>
              </a:rPr>
              <a:t>2. 设计部品牌窗口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每周二/四下午固定窗口处理市场物料需求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负责人：罗茜  |  目标：设计↔市场响应 ≤3h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6FC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</a:rPr>
              <a:t>3. 客户反馈标签体系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按功能/体验/缺陷自动分类客户反馈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负责人：黄薇  |  目标：产品↔客户成功响应 ≤3h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6FC"/>
          </a:solidFill>
          <a:ln w="25400">
            <a:solidFill>
              <a:srgbClr val="FFC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000"/>
                </a:solidFill>
              </a:rPr>
              <a:t>4. 工单 SWAT 小组试点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3434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杨飞+徐骏轮值，缩短问题定位链路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负责人：杨飞  |  目标：高优 MTTR ≤15min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496"/>
                </a:solidFill>
              </a:rPr>
              <a:t>预期效果：Q4 跨团队协作平均响应时长目标 ≤2.2h，SLA 达成率 ≥97%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Nexora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Nexora Tech</dc:creator>
  <cp:lastModifiedBy>Nexora Tech</cp:lastModifiedBy>
  <cp:revision>1</cp:revision>
  <dcterms:created xsi:type="dcterms:W3CDTF">2026-07-06T04:42:52Z</dcterms:created>
  <dcterms:modified xsi:type="dcterms:W3CDTF">2026-07-06T04:42:52Z</dcterms:modified>
</cp:coreProperties>
</file>