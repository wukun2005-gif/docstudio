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22860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t>i-Write 项目周报</a:t>
              <a:rPr sz="4400" b="1">
                <a:solidFill>
                  <a:srgbClr val="000000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ctr"/>
            <a:r>
              <a:t>2026-06-16 ~ 2026-06-20</a:t>
              <a:rPr sz="2000">
                <a:solidFill>
                  <a:srgbClr val="555555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ctr"/>
            <a:r>
              <a:t>陈强 · 技术负责人 · Nexora Tech</a:t>
              <a:rPr sz="1600">
                <a:solidFill>
                  <a:srgbClr val="888888"/>
                </a:solidFill>
                <a:latin typeface="Helvetica Neue"/>
                <a:ea typeface="PingFang SC"/>
                <a:cs typeface="PingFang SC"/>
              </a:rPr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本周目标</a:t>
              <a:rPr sz="3200" b="1">
                <a:solidFill>
                  <a:srgbClr val="000000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1. 完成用户认证模块（OAuth2 + JWT）</a:t>
              <a:rPr sz="22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2. 修复 3 个高优 Bug（BUG-201/205/210）</a:t>
              <a:rPr sz="22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3. 完成支付系统技术方案设计</a:t>
              <a:rPr sz="22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完成情况</a:t>
              <a:rPr sz="3200" b="1">
                <a:solidFill>
                  <a:srgbClr val="000000"/>
                </a:solidFill>
                <a:latin typeface="Helvetica Neue"/>
                <a:ea typeface="PingFang SC"/>
                <a:cs typeface="PingFang SC"/>
              </a:rPr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371600"/>
          <a:ext cx="100584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508000">
                <a:tc>
                  <a:txBody>
                    <a:bodyPr/>
                    <a:lstStyle/>
                    <a:p>
                      <a:r>
                        <a:t>任务</a:t>
                        <a:rPr sz="1400" b="1">
                          <a:solidFill>
                            <a:srgbClr val="000000"/>
                          </a:solidFill>
                          <a:latin typeface="Helvetica Neue"/>
                          <a:ea typeface="PingFang SC"/>
                          <a:cs typeface="PingFang SC"/>
                        </a:rPr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状态</a:t>
                        <a:rPr sz="1400" b="1">
                          <a:solidFill>
                            <a:srgbClr val="000000"/>
                          </a:solidFill>
                          <a:latin typeface="Helvetica Neue"/>
                          <a:ea typeface="PingFang SC"/>
                          <a:cs typeface="PingFang SC"/>
                        </a:rPr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负责人</a:t>
                        <a:rPr sz="1400" b="1">
                          <a:solidFill>
                            <a:srgbClr val="000000"/>
                          </a:solidFill>
                          <a:latin typeface="Helvetica Neue"/>
                          <a:ea typeface="PingFang SC"/>
                          <a:cs typeface="PingFang SC"/>
                        </a:rPr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t>认证模块 OAuth2</a:t>
                        <a:rPr sz="1400">
                          <a:solidFill>
                            <a:srgbClr val="333333"/>
                          </a:solidFill>
                          <a:latin typeface="Helvetica Neue"/>
                          <a:ea typeface="PingFang SC"/>
                          <a:cs typeface="PingFang SC"/>
                        </a:rPr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✅ 完成</a:t>
                        <a:rPr sz="1400">
                          <a:solidFill>
                            <a:srgbClr val="333333"/>
                          </a:solidFill>
                          <a:latin typeface="Helvetica Neue"/>
                          <a:ea typeface="PingFang SC"/>
                          <a:cs typeface="PingFang SC"/>
                        </a:rPr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陈强</a:t>
                        <a:rPr sz="1400">
                          <a:solidFill>
                            <a:srgbClr val="333333"/>
                          </a:solidFill>
                          <a:latin typeface="Helvetica Neue"/>
                          <a:ea typeface="PingFang SC"/>
                          <a:cs typeface="PingFang SC"/>
                        </a:rPr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t>Microsoft OAuth2</a:t>
                        <a:rPr sz="1400">
                          <a:solidFill>
                            <a:srgbClr val="333333"/>
                          </a:solidFill>
                          <a:latin typeface="Helvetica Neue"/>
                          <a:ea typeface="PingFang SC"/>
                          <a:cs typeface="PingFang SC"/>
                        </a:rPr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✅ 完成</a:t>
                        <a:rPr sz="1400">
                          <a:solidFill>
                            <a:srgbClr val="333333"/>
                          </a:solidFill>
                          <a:latin typeface="Helvetica Neue"/>
                          <a:ea typeface="PingFang SC"/>
                          <a:cs typeface="PingFang SC"/>
                        </a:rPr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陈强、刘伟</a:t>
                        <a:rPr sz="1400">
                          <a:solidFill>
                            <a:srgbClr val="333333"/>
                          </a:solidFill>
                          <a:latin typeface="Helvetica Neue"/>
                          <a:ea typeface="PingFang SC"/>
                          <a:cs typeface="PingFang SC"/>
                        </a:rPr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t>GitHub OAuth</a:t>
                        <a:rPr sz="1400">
                          <a:solidFill>
                            <a:srgbClr val="333333"/>
                          </a:solidFill>
                          <a:latin typeface="Helvetica Neue"/>
                          <a:ea typeface="PingFang SC"/>
                          <a:cs typeface="PingFang SC"/>
                        </a:rPr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✅ 完成</a:t>
                        <a:rPr sz="1400">
                          <a:solidFill>
                            <a:srgbClr val="333333"/>
                          </a:solidFill>
                          <a:latin typeface="Helvetica Neue"/>
                          <a:ea typeface="PingFang SC"/>
                          <a:cs typeface="PingFang SC"/>
                        </a:rPr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刘伟</a:t>
                        <a:rPr sz="1400">
                          <a:solidFill>
                            <a:srgbClr val="333333"/>
                          </a:solidFill>
                          <a:latin typeface="Helvetica Neue"/>
                          <a:ea typeface="PingFang SC"/>
                          <a:cs typeface="PingFang SC"/>
                        </a:rPr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t>登录页面 UI</a:t>
                        <a:rPr sz="1400">
                          <a:solidFill>
                            <a:srgbClr val="333333"/>
                          </a:solidFill>
                          <a:latin typeface="Helvetica Neue"/>
                          <a:ea typeface="PingFang SC"/>
                          <a:cs typeface="PingFang SC"/>
                        </a:rPr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✅ 完成</a:t>
                        <a:rPr sz="1400">
                          <a:solidFill>
                            <a:srgbClr val="333333"/>
                          </a:solidFill>
                          <a:latin typeface="Helvetica Neue"/>
                          <a:ea typeface="PingFang SC"/>
                          <a:cs typeface="PingFang SC"/>
                        </a:rPr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赵丽</a:t>
                        <a:rPr sz="1400">
                          <a:solidFill>
                            <a:srgbClr val="333333"/>
                          </a:solidFill>
                          <a:latin typeface="Helvetica Neue"/>
                          <a:ea typeface="PingFang SC"/>
                          <a:cs typeface="PingFang SC"/>
                        </a:rPr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t>BUG-201/205/210</a:t>
                        <a:rPr sz="1400">
                          <a:solidFill>
                            <a:srgbClr val="333333"/>
                          </a:solidFill>
                          <a:latin typeface="Helvetica Neue"/>
                          <a:ea typeface="PingFang SC"/>
                          <a:cs typeface="PingFang SC"/>
                        </a:rPr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✅ 完成</a:t>
                        <a:rPr sz="1400">
                          <a:solidFill>
                            <a:srgbClr val="333333"/>
                          </a:solidFill>
                          <a:latin typeface="Helvetica Neue"/>
                          <a:ea typeface="PingFang SC"/>
                          <a:cs typeface="PingFang SC"/>
                        </a:rPr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赵丽、刘伟</a:t>
                        <a:rPr sz="1400">
                          <a:solidFill>
                            <a:srgbClr val="333333"/>
                          </a:solidFill>
                          <a:latin typeface="Helvetica Neue"/>
                          <a:ea typeface="PingFang SC"/>
                          <a:cs typeface="PingFang SC"/>
                        </a:rPr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t>E2E 测试</a:t>
                        <a:rPr sz="1400">
                          <a:solidFill>
                            <a:srgbClr val="333333"/>
                          </a:solidFill>
                          <a:latin typeface="Helvetica Neue"/>
                          <a:ea typeface="PingFang SC"/>
                          <a:cs typeface="PingFang SC"/>
                        </a:rPr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🔄 80%</a:t>
                        <a:rPr sz="1400">
                          <a:solidFill>
                            <a:srgbClr val="333333"/>
                          </a:solidFill>
                          <a:latin typeface="Helvetica Neue"/>
                          <a:ea typeface="PingFang SC"/>
                          <a:cs typeface="PingFang SC"/>
                        </a:rPr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杨飞</a:t>
                        <a:rPr sz="1400">
                          <a:solidFill>
                            <a:srgbClr val="333333"/>
                          </a:solidFill>
                          <a:latin typeface="Helvetica Neue"/>
                          <a:ea typeface="PingFang SC"/>
                          <a:cs typeface="PingFang SC"/>
                        </a:rPr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t>支付系统方案</a:t>
                        <a:rPr sz="1400">
                          <a:solidFill>
                            <a:srgbClr val="333333"/>
                          </a:solidFill>
                          <a:latin typeface="Helvetica Neue"/>
                          <a:ea typeface="PingFang SC"/>
                          <a:cs typeface="PingFang SC"/>
                        </a:rPr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✅ 完成</a:t>
                        <a:rPr sz="1400">
                          <a:solidFill>
                            <a:srgbClr val="333333"/>
                          </a:solidFill>
                          <a:latin typeface="Helvetica Neue"/>
                          <a:ea typeface="PingFang SC"/>
                          <a:cs typeface="PingFang SC"/>
                        </a:rPr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陈强、刘伟</a:t>
                        <a:rPr sz="1400">
                          <a:solidFill>
                            <a:srgbClr val="333333"/>
                          </a:solidFill>
                          <a:latin typeface="Helvetica Neue"/>
                          <a:ea typeface="PingFang SC"/>
                          <a:cs typeface="PingFang SC"/>
                        </a:rPr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t>Token 刷新修复</a:t>
                        <a:rPr sz="1400">
                          <a:solidFill>
                            <a:srgbClr val="333333"/>
                          </a:solidFill>
                          <a:latin typeface="Helvetica Neue"/>
                          <a:ea typeface="PingFang SC"/>
                          <a:cs typeface="PingFang SC"/>
                        </a:rPr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✅ 完成</a:t>
                        <a:rPr sz="1400">
                          <a:solidFill>
                            <a:srgbClr val="333333"/>
                          </a:solidFill>
                          <a:latin typeface="Helvetica Neue"/>
                          <a:ea typeface="PingFang SC"/>
                          <a:cs typeface="PingFang SC"/>
                        </a:rPr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刘伟</a:t>
                        <a:rPr sz="1400">
                          <a:solidFill>
                            <a:srgbClr val="333333"/>
                          </a:solidFill>
                          <a:latin typeface="Helvetica Neue"/>
                          <a:ea typeface="PingFang SC"/>
                          <a:cs typeface="PingFang SC"/>
                        </a:rPr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关键数据</a:t>
              <a:rPr sz="3200" b="1">
                <a:solidFill>
                  <a:srgbClr val="000000"/>
                </a:solidFill>
                <a:latin typeface="Helvetica Neue"/>
                <a:ea typeface="PingFang SC"/>
                <a:cs typeface="PingFang SC"/>
              </a:rPr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286000"/>
            <a:ext cx="228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t>23</a:t>
              <a:rPr sz="4800" b="1">
                <a:solidFill>
                  <a:srgbClr val="1a56db"/>
                </a:solidFill>
                <a:latin typeface="Helvetica Neue"/>
                <a:ea typeface="PingFang SC"/>
                <a:cs typeface="PingFang SC"/>
              </a:rPr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47472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t>代码 PR</a:t>
              <a:rPr sz="1400">
                <a:solidFill>
                  <a:srgbClr val="666666"/>
                </a:solidFill>
                <a:latin typeface="Helvetica Neue"/>
                <a:ea typeface="PingFang SC"/>
                <a:cs typeface="PingFang SC"/>
              </a:rPr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0" y="2286000"/>
            <a:ext cx="228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t>3</a:t>
              <a:rPr sz="4800" b="1">
                <a:solidFill>
                  <a:srgbClr val="1a56db"/>
                </a:solidFill>
                <a:latin typeface="Helvetica Neue"/>
                <a:ea typeface="PingFang SC"/>
                <a:cs typeface="PingFang SC"/>
              </a:rPr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347472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t>Bug 修复</a:t>
              <a:rPr sz="1400">
                <a:solidFill>
                  <a:srgbClr val="666666"/>
                </a:solidFill>
                <a:latin typeface="Helvetica Neue"/>
                <a:ea typeface="PingFang SC"/>
                <a:cs typeface="PingFang SC"/>
              </a:rPr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2286000"/>
            <a:ext cx="228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t>85%</a:t>
              <a:rPr sz="4800" b="1">
                <a:solidFill>
                  <a:srgbClr val="1a56db"/>
                </a:solidFill>
                <a:latin typeface="Helvetica Neue"/>
                <a:ea typeface="PingFang SC"/>
                <a:cs typeface="PingFang SC"/>
              </a:rPr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347472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t>测试覆盖率</a:t>
              <a:rPr sz="1400">
                <a:solidFill>
                  <a:srgbClr val="666666"/>
                </a:solidFill>
                <a:latin typeface="Helvetica Neue"/>
                <a:ea typeface="PingFang SC"/>
                <a:cs typeface="PingFang SC"/>
              </a:rPr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2286000"/>
            <a:ext cx="228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t>100%</a:t>
              <a:rPr sz="4800" b="1">
                <a:solidFill>
                  <a:srgbClr val="1a56db"/>
                </a:solidFill>
                <a:latin typeface="Helvetica Neue"/>
                <a:ea typeface="PingFang SC"/>
                <a:cs typeface="PingFang SC"/>
              </a:rPr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347472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t>认证模块</a:t>
              <a:rPr sz="1400">
                <a:solidFill>
                  <a:srgbClr val="666666"/>
                </a:solidFill>
                <a:latin typeface="Helvetica Neue"/>
                <a:ea typeface="PingFang SC"/>
                <a:cs typeface="PingFang SC"/>
              </a:rPr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遇到的问题与解决方案</a:t>
              <a:rPr sz="3200" b="1">
                <a:solidFill>
                  <a:srgbClr val="000000"/>
                </a:solidFill>
                <a:latin typeface="Helvetica Neue"/>
                <a:ea typeface="PingFang SC"/>
                <a:cs typeface="PingFang SC"/>
              </a:rPr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t>问题 1: Azure AD redirect_uri 配置</a:t>
              <a:rPr sz="1800" b="1">
                <a:solidFill>
                  <a:srgbClr val="CC0000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→ 一个 App Registration 配多个 uri，用环境变量区分</a:t>
              <a:rPr sz="1800">
                <a:solidFill>
                  <a:srgbClr val="008800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/>
              <a:rPr sz="1800">
                <a:solidFill>
                  <a:srgbClr val="000000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问题 2: Token 刷新竞态条件</a:t>
              <a:rPr sz="1800" b="1">
                <a:solidFill>
                  <a:srgbClr val="CC0000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→ 队列机制：刷新中请求排队等待，刷新后用新 Token 重发</a:t>
              <a:rPr sz="1800">
                <a:solidFill>
                  <a:srgbClr val="008800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/>
              <a:rPr sz="1800">
                <a:solidFill>
                  <a:srgbClr val="000000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问题 3: GitHub OAuth 回调超时</a:t>
              <a:rPr sz="1800" b="1">
                <a:solidFill>
                  <a:srgbClr val="CC0000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→ 增加超时到 10s + 重试机制</a:t>
              <a:rPr sz="1800">
                <a:solidFill>
                  <a:srgbClr val="008800"/>
                </a:solidFill>
                <a:latin typeface="Helvetica Neue"/>
                <a:ea typeface="PingFang SC"/>
                <a:cs typeface="PingFang SC"/>
              </a:rPr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下周计划</a:t>
              <a:rPr sz="3200" b="1">
                <a:solidFill>
                  <a:srgbClr val="000000"/>
                </a:solidFill>
                <a:latin typeface="Helvetica Neue"/>
                <a:ea typeface="PingFang SC"/>
                <a:cs typeface="PingFang SC"/>
              </a:rPr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t>1. 完成 E2E 测试并修复发现的问题</a:t>
              <a:rPr sz="22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2. 支付系统设计评审</a:t>
              <a:rPr sz="22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3. 开始支付模块开发</a:t>
              <a:rPr sz="22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4. 更新技术文档</a:t>
              <a:rPr sz="22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RAG 引擎进展</a:t>
              <a:rPr sz="3200" b="1">
                <a:solidFill>
                  <a:srgbClr val="000000"/>
                </a:solidFill>
                <a:latin typeface="Helvetica Neue"/>
                <a:ea typeface="PingFang SC"/>
                <a:cs typeface="PingFang SC"/>
              </a:rPr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t>Query Expansion → Hybrid Search → Reranker → Groundedness Check</a:t>
              <a:rPr sz="18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/>
              <a:rPr sz="18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✅ BM25 检索（MiniSearch + jieba-wasm）— Recall@10: 0.78</a:t>
              <a:rPr sz="18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✅ 向量检索（SiliconFlow bge-m3, 1024 维）— Recall@10: 0.82</a:t>
              <a:rPr sz="18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✅ RRF 融合（k=60）— Recall@10: 0.91</a:t>
              <a:rPr sz="18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✅ Reranker 三级降级（远程 API → 本地 Cross-Encoder → 启发式）</a:t>
              <a:rPr sz="18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✅ Groundedness Check — 准确率 92%</a:t>
              <a:rPr sz="18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/>
              <a:rPr sz="18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端到端延迟: &lt; 3s（P95）</a:t>
              <a:rPr sz="18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认证模块架构</a:t>
              <a:rPr sz="3200" b="1">
                <a:solidFill>
                  <a:srgbClr val="000000"/>
                </a:solidFill>
                <a:latin typeface="Helvetica Neue"/>
                <a:ea typeface="PingFang SC"/>
                <a:cs typeface="PingFang SC"/>
              </a:rPr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t>User → OAuth2 Provider → Callback → JWT Generation → Frontend Storage</a:t>
              <a:rPr sz="18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/>
              <a:rPr sz="18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✅ Microsoft OAuth2（MSAL.js + PKCE）</a:t>
              <a:rPr sz="18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✅ GitHub OAuth（passport.js）</a:t>
              <a:rPr sz="18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✅ JWT Token 管理（Access Token 1h + Refresh Token 7d）</a:t>
              <a:rPr sz="18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✅ Token 刷新队列机制（修复 BUG-215 竞态条件）</a:t>
              <a:rPr sz="18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/>
              <a:rPr sz="18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登录成功率: 99.8% | Token 刷新成功率: 99.95%</a:t>
              <a:rPr sz="18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Bug 趋势</a:t>
              <a:rPr sz="3200" b="1">
                <a:solidFill>
                  <a:srgbClr val="000000"/>
                </a:solidFill>
                <a:latin typeface="Helvetica Neue"/>
                <a:ea typeface="PingFang SC"/>
                <a:cs typeface="PingFang SC"/>
              </a:rPr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t>Sprint 1: 新增 3 / 修复 0 — 基础设施搭建阶段</a:t>
              <a:rPr sz="18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Sprint 2: 新增 5 / 修复 3 — 知识管理模块开发</a:t>
              <a:rPr sz="18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Sprint 3: 新增 4 / 修复 5 — RAG + 认证模块</a:t>
              <a:rPr sz="18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Sprint 4: 新增 3 / 修复 4 — 文档生成 + 评估</a:t>
              <a:rPr sz="18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/>
              <a:rPr sz="18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累计: 新增 15 / 修复 12 / 待修复 3</a:t>
              <a:rPr sz="18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高优 Bug: 0（所有高优 Bug 已修复）</a:t>
              <a:rPr sz="18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遇到的问题与解决方案</a:t>
              <a:rPr sz="3200" b="1">
                <a:solidFill>
                  <a:srgbClr val="000000"/>
                </a:solidFill>
                <a:latin typeface="Helvetica Neue"/>
                <a:ea typeface="PingFang SC"/>
                <a:cs typeface="PingFang SC"/>
              </a:rPr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t>问题 1: Azure AD redirect_uri 配置</a:t>
              <a:rPr sz="1800" b="1">
                <a:solidFill>
                  <a:srgbClr val="CC0000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→ 一个 App Registration 配多个 uri，用环境变量区分</a:t>
              <a:rPr sz="1800">
                <a:solidFill>
                  <a:srgbClr val="008800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/>
              <a:rPr sz="1800">
                <a:solidFill>
                  <a:srgbClr val="000000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问题 2: Token 刷新竞态条件（BUG-215）</a:t>
              <a:rPr sz="1800" b="1">
                <a:solidFill>
                  <a:srgbClr val="CC0000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→ 队列机制：刷新中请求排队等待，刷新后用新 Token 重发</a:t>
              <a:rPr sz="1800">
                <a:solidFill>
                  <a:srgbClr val="008800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/>
              <a:rPr sz="1800">
                <a:solidFill>
                  <a:srgbClr val="000000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问题 3: GitHub OAuth 回调超时（BUG-216）</a:t>
              <a:rPr sz="1800" b="1">
                <a:solidFill>
                  <a:srgbClr val="CC0000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→ 增加超时到 10s + 重试机制</a:t>
              <a:rPr sz="1800">
                <a:solidFill>
                  <a:srgbClr val="008800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/>
              <a:rPr sz="1800">
                <a:solidFill>
                  <a:srgbClr val="000000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问题 4: Gemini systemPromptMode 不兼容</a:t>
              <a:rPr sz="1800" b="1">
                <a:solidFill>
                  <a:srgbClr val="CC0000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→ ModelCapabilities 查询机制，自动适配参数差异</a:t>
              <a:rPr sz="1800">
                <a:solidFill>
                  <a:srgbClr val="008800"/>
                </a:solidFill>
                <a:latin typeface="Helvetica Neue"/>
                <a:ea typeface="PingFang SC"/>
                <a:cs typeface="PingFang SC"/>
              </a:rPr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团队协作</a:t>
              <a:rPr sz="3200" b="1">
                <a:solidFill>
                  <a:srgbClr val="000000"/>
                </a:solidFill>
                <a:latin typeface="Helvetica Neue"/>
                <a:ea typeface="PingFang SC"/>
                <a:cs typeface="PingFang SC"/>
              </a:rPr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t>技术部（8 人）：陈强、刘伟、赵丽、孙娜、王超、周敏、徐骏、杨飞</a:t>
              <a:rPr sz="18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产品部（2 人）：苏楠、黄薇</a:t>
              <a:rPr sz="18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设计部（2 人）：罗茜、何成</a:t>
              <a:rPr sz="18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市场/销售（2 人）：王莉、张伟</a:t>
              <a:rPr sz="18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法务（1 人）：唐敏</a:t>
              <a:rPr sz="18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客户成功（1 人）：李鑫</a:t>
              <a:rPr sz="18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管理层（3 人）：陈宇、王琳、赵军</a:t>
              <a:rPr sz="18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/>
              <a:rPr sz="18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月度 PR: 195 | 测试覆盖率: 68% → 87%</a:t>
              <a:rPr sz="18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228600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t>Q &amp; A</a:t>
              <a:rPr sz="4400" b="1">
                <a:solidFill>
                  <a:srgbClr val="000000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ctr"/>
            <a:r>
              <a:t>感谢关注 i-Write 项目进展</a:t>
              <a:rPr sz="2000">
                <a:solidFill>
                  <a:srgbClr val="555555"/>
                </a:solidFill>
                <a:latin typeface="Helvetica Neue"/>
                <a:ea typeface="PingFang SC"/>
                <a:cs typeface="PingFang SC"/>
              </a:rPr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